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Poppins Italics" charset="1" panose="00000500000000000000"/>
      <p:regular r:id="rId20"/>
    </p:embeddedFont>
    <p:embeddedFont>
      <p:font typeface="Open Sauce" charset="1" panose="00000500000000000000"/>
      <p:regular r:id="rId21"/>
    </p:embeddedFont>
    <p:embeddedFont>
      <p:font typeface="Telegraf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12" y="3811298"/>
            <a:ext cx="12179177" cy="34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  <a:spcBef>
                <a:spcPct val="0"/>
              </a:spcBef>
            </a:pPr>
            <a:r>
              <a:rPr lang="en-US" b="true" sz="9699" spc="-43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GPU Programming on Android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4840" y="731026"/>
            <a:ext cx="3537424" cy="595349"/>
            <a:chOff x="0" y="0"/>
            <a:chExt cx="4716566" cy="7937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11960" y="8970010"/>
            <a:ext cx="47473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Nimesh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2057400"/>
            <a:ext cx="8641761" cy="7499107"/>
            <a:chOff x="0" y="0"/>
            <a:chExt cx="2276019" cy="1975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6019" cy="1975074"/>
            </a:xfrm>
            <a:custGeom>
              <a:avLst/>
              <a:gdLst/>
              <a:ahLst/>
              <a:cxnLst/>
              <a:rect r="r" b="b" t="t" l="l"/>
              <a:pathLst>
                <a:path h="1975074" w="2276019">
                  <a:moveTo>
                    <a:pt x="50169" y="0"/>
                  </a:moveTo>
                  <a:lnTo>
                    <a:pt x="2225851" y="0"/>
                  </a:lnTo>
                  <a:cubicBezTo>
                    <a:pt x="2239156" y="0"/>
                    <a:pt x="2251917" y="5286"/>
                    <a:pt x="2261325" y="14694"/>
                  </a:cubicBezTo>
                  <a:cubicBezTo>
                    <a:pt x="2270734" y="24103"/>
                    <a:pt x="2276019" y="36863"/>
                    <a:pt x="2276019" y="50169"/>
                  </a:cubicBezTo>
                  <a:lnTo>
                    <a:pt x="2276019" y="1924905"/>
                  </a:lnTo>
                  <a:cubicBezTo>
                    <a:pt x="2276019" y="1952612"/>
                    <a:pt x="2253558" y="1975074"/>
                    <a:pt x="2225851" y="1975074"/>
                  </a:cubicBezTo>
                  <a:lnTo>
                    <a:pt x="50169" y="1975074"/>
                  </a:lnTo>
                  <a:cubicBezTo>
                    <a:pt x="36863" y="1975074"/>
                    <a:pt x="24103" y="1969788"/>
                    <a:pt x="14694" y="1960380"/>
                  </a:cubicBezTo>
                  <a:cubicBezTo>
                    <a:pt x="5286" y="1950971"/>
                    <a:pt x="0" y="1938210"/>
                    <a:pt x="0" y="1924905"/>
                  </a:cubicBezTo>
                  <a:lnTo>
                    <a:pt x="0" y="50169"/>
                  </a:lnTo>
                  <a:cubicBezTo>
                    <a:pt x="0" y="36863"/>
                    <a:pt x="5286" y="24103"/>
                    <a:pt x="14694" y="14694"/>
                  </a:cubicBezTo>
                  <a:cubicBezTo>
                    <a:pt x="24103" y="5286"/>
                    <a:pt x="36863" y="0"/>
                    <a:pt x="501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76019" cy="204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75275" y="6825024"/>
            <a:ext cx="7524688" cy="2731483"/>
            <a:chOff x="0" y="0"/>
            <a:chExt cx="1981811" cy="719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811" cy="719403"/>
            </a:xfrm>
            <a:custGeom>
              <a:avLst/>
              <a:gdLst/>
              <a:ahLst/>
              <a:cxnLst/>
              <a:rect r="r" b="b" t="t" l="l"/>
              <a:pathLst>
                <a:path h="719403" w="1981811">
                  <a:moveTo>
                    <a:pt x="57617" y="0"/>
                  </a:moveTo>
                  <a:lnTo>
                    <a:pt x="1924194" y="0"/>
                  </a:lnTo>
                  <a:cubicBezTo>
                    <a:pt x="1939475" y="0"/>
                    <a:pt x="1954130" y="6070"/>
                    <a:pt x="1964935" y="16876"/>
                  </a:cubicBezTo>
                  <a:cubicBezTo>
                    <a:pt x="1975740" y="27681"/>
                    <a:pt x="1981811" y="42336"/>
                    <a:pt x="1981811" y="57617"/>
                  </a:cubicBezTo>
                  <a:lnTo>
                    <a:pt x="1981811" y="661786"/>
                  </a:lnTo>
                  <a:cubicBezTo>
                    <a:pt x="1981811" y="677067"/>
                    <a:pt x="1975740" y="691722"/>
                    <a:pt x="1964935" y="702528"/>
                  </a:cubicBezTo>
                  <a:cubicBezTo>
                    <a:pt x="1954130" y="713333"/>
                    <a:pt x="1939475" y="719403"/>
                    <a:pt x="1924194" y="719403"/>
                  </a:cubicBezTo>
                  <a:lnTo>
                    <a:pt x="57617" y="719403"/>
                  </a:lnTo>
                  <a:cubicBezTo>
                    <a:pt x="42336" y="719403"/>
                    <a:pt x="27681" y="713333"/>
                    <a:pt x="16876" y="702528"/>
                  </a:cubicBezTo>
                  <a:cubicBezTo>
                    <a:pt x="6070" y="691722"/>
                    <a:pt x="0" y="677067"/>
                    <a:pt x="0" y="661786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981811" cy="786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75275" y="2057400"/>
            <a:ext cx="7524688" cy="4166571"/>
            <a:chOff x="0" y="0"/>
            <a:chExt cx="1165771" cy="645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5771" cy="645511"/>
            </a:xfrm>
            <a:custGeom>
              <a:avLst/>
              <a:gdLst/>
              <a:ahLst/>
              <a:cxnLst/>
              <a:rect r="r" b="b" t="t" l="l"/>
              <a:pathLst>
                <a:path h="645511" w="1165771">
                  <a:moveTo>
                    <a:pt x="57617" y="0"/>
                  </a:moveTo>
                  <a:lnTo>
                    <a:pt x="1108154" y="0"/>
                  </a:lnTo>
                  <a:cubicBezTo>
                    <a:pt x="1123435" y="0"/>
                    <a:pt x="1138090" y="6070"/>
                    <a:pt x="1148896" y="16876"/>
                  </a:cubicBezTo>
                  <a:cubicBezTo>
                    <a:pt x="1159701" y="27681"/>
                    <a:pt x="1165771" y="42336"/>
                    <a:pt x="1165771" y="57617"/>
                  </a:cubicBezTo>
                  <a:lnTo>
                    <a:pt x="1165771" y="587894"/>
                  </a:lnTo>
                  <a:cubicBezTo>
                    <a:pt x="1165771" y="603175"/>
                    <a:pt x="1159701" y="617830"/>
                    <a:pt x="1148896" y="628635"/>
                  </a:cubicBezTo>
                  <a:cubicBezTo>
                    <a:pt x="1138090" y="639441"/>
                    <a:pt x="1123435" y="645511"/>
                    <a:pt x="1108154" y="645511"/>
                  </a:cubicBezTo>
                  <a:lnTo>
                    <a:pt x="57617" y="645511"/>
                  </a:lnTo>
                  <a:cubicBezTo>
                    <a:pt x="42336" y="645511"/>
                    <a:pt x="27681" y="639441"/>
                    <a:pt x="16876" y="628635"/>
                  </a:cubicBezTo>
                  <a:cubicBezTo>
                    <a:pt x="6070" y="617830"/>
                    <a:pt x="0" y="603175"/>
                    <a:pt x="0" y="587894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blipFill>
              <a:blip r:embed="rId2"/>
              <a:stretch>
                <a:fillRect l="-6487" t="-140843" r="-52038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596750" y="790592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6346" y="5546134"/>
            <a:ext cx="6797040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Modern</a:t>
            </a: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GPU is a type of Processor thats </a:t>
            </a: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very</a:t>
            </a: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good at performing Arithmetic and Logical Operations on multiple “data points” simultaneously, aka </a:t>
            </a:r>
            <a:r>
              <a:rPr lang="en-US" sz="2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SIMD</a:t>
            </a: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25465" y="7284222"/>
            <a:ext cx="5521348" cy="1739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6"/>
              </a:lnSpc>
            </a:pPr>
            <a:r>
              <a:rPr lang="en-US" sz="5004" spc="-2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GPU is SIMD on Steroids!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6346" y="2964872"/>
            <a:ext cx="7719401" cy="1163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spc="-36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Whats a GPU?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6346" y="4373220"/>
            <a:ext cx="6797040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There was a time when GPU was nothing more than a Graphics Processor... Now? Its a </a:t>
            </a:r>
            <a:r>
              <a:rPr lang="en-US" sz="2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lot more</a:t>
            </a: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2093" y="778979"/>
            <a:ext cx="3537424" cy="595349"/>
            <a:chOff x="0" y="0"/>
            <a:chExt cx="4716566" cy="793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00921" y="1986280"/>
            <a:ext cx="10876417" cy="7467954"/>
            <a:chOff x="0" y="0"/>
            <a:chExt cx="2864571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4571" cy="1966869"/>
            </a:xfrm>
            <a:custGeom>
              <a:avLst/>
              <a:gdLst/>
              <a:ahLst/>
              <a:cxnLst/>
              <a:rect r="r" b="b" t="t" l="l"/>
              <a:pathLst>
                <a:path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864571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986" y="1986280"/>
            <a:ext cx="5264882" cy="7467954"/>
            <a:chOff x="0" y="0"/>
            <a:chExt cx="1386636" cy="19668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6636" cy="1966869"/>
            </a:xfrm>
            <a:custGeom>
              <a:avLst/>
              <a:gdLst/>
              <a:ahLst/>
              <a:cxnLst/>
              <a:rect r="r" b="b" t="t" l="l"/>
              <a:pathLst>
                <a:path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86636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04417" y="5720257"/>
            <a:ext cx="2831507" cy="2831507"/>
          </a:xfrm>
          <a:custGeom>
            <a:avLst/>
            <a:gdLst/>
            <a:ahLst/>
            <a:cxnLst/>
            <a:rect r="r" b="b" t="t" l="l"/>
            <a:pathLst>
              <a:path h="2831507" w="2831507">
                <a:moveTo>
                  <a:pt x="0" y="0"/>
                </a:moveTo>
                <a:lnTo>
                  <a:pt x="2831507" y="0"/>
                </a:lnTo>
                <a:lnTo>
                  <a:pt x="2831507" y="2831507"/>
                </a:lnTo>
                <a:lnTo>
                  <a:pt x="0" y="2831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96750" y="838545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 iGPU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3845" y="2420060"/>
            <a:ext cx="4122112" cy="287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6"/>
              </a:lnSpc>
            </a:pPr>
            <a:r>
              <a:rPr lang="en-US" sz="5504" spc="-2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When did my phone get a GPU??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55160" y="2509535"/>
            <a:ext cx="9315752" cy="1163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spc="-36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Integrated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55155" y="2743379"/>
            <a:ext cx="7353298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20"/>
              </a:lnSpc>
            </a:pPr>
            <a:r>
              <a:rPr lang="en-US" sz="6000" spc="-2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GPUs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2093" y="778979"/>
            <a:ext cx="3537424" cy="595349"/>
            <a:chOff x="0" y="0"/>
            <a:chExt cx="4716566" cy="793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655160" y="3940829"/>
            <a:ext cx="7353298" cy="461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These offer decent performance whilst drawing less power. Its usually </a:t>
            </a:r>
            <a:r>
              <a:rPr lang="en-US" sz="3000" spc="-1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pre-packaged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with the CPU/SOC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 be found on Laptops and Phones. Thhese are typically called </a:t>
            </a:r>
            <a:r>
              <a:rPr lang="en-US" sz="3000" i="true" spc="-13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iGPUs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Ever heard of Intel Xe3 graphics?</a:t>
            </a:r>
          </a:p>
          <a:p>
            <a:pPr algn="l">
              <a:lnSpc>
                <a:spcPts val="3060"/>
              </a:lnSpc>
            </a:pP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Imagination PowerVR?</a:t>
            </a:r>
          </a:p>
          <a:p>
            <a:pPr algn="l">
              <a:lnSpc>
                <a:spcPts val="3060"/>
              </a:lnSpc>
            </a:pP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Qualcomm Adreno or ARM Immortalis?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 the Apple GPU is another example.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1790346"/>
            <a:ext cx="6301476" cy="5911234"/>
            <a:chOff x="0" y="0"/>
            <a:chExt cx="1659648" cy="15568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9648" cy="1556868"/>
            </a:xfrm>
            <a:custGeom>
              <a:avLst/>
              <a:gdLst/>
              <a:ahLst/>
              <a:cxnLst/>
              <a:rect r="r" b="b" t="t" l="l"/>
              <a:pathLst>
                <a:path h="1556868" w="1659648">
                  <a:moveTo>
                    <a:pt x="68801" y="0"/>
                  </a:moveTo>
                  <a:lnTo>
                    <a:pt x="1590847" y="0"/>
                  </a:lnTo>
                  <a:cubicBezTo>
                    <a:pt x="1609094" y="0"/>
                    <a:pt x="1626594" y="7249"/>
                    <a:pt x="1639497" y="20151"/>
                  </a:cubicBezTo>
                  <a:cubicBezTo>
                    <a:pt x="1652399" y="33054"/>
                    <a:pt x="1659648" y="50554"/>
                    <a:pt x="1659648" y="68801"/>
                  </a:cubicBezTo>
                  <a:lnTo>
                    <a:pt x="1659648" y="1488067"/>
                  </a:lnTo>
                  <a:cubicBezTo>
                    <a:pt x="1659648" y="1506314"/>
                    <a:pt x="1652399" y="1523814"/>
                    <a:pt x="1639497" y="1536717"/>
                  </a:cubicBezTo>
                  <a:cubicBezTo>
                    <a:pt x="1626594" y="1549620"/>
                    <a:pt x="1609094" y="1556868"/>
                    <a:pt x="1590847" y="1556868"/>
                  </a:cubicBezTo>
                  <a:lnTo>
                    <a:pt x="68801" y="1556868"/>
                  </a:lnTo>
                  <a:cubicBezTo>
                    <a:pt x="50554" y="1556868"/>
                    <a:pt x="33054" y="1549620"/>
                    <a:pt x="20151" y="1536717"/>
                  </a:cubicBezTo>
                  <a:cubicBezTo>
                    <a:pt x="7249" y="1523814"/>
                    <a:pt x="0" y="1506314"/>
                    <a:pt x="0" y="1488067"/>
                  </a:cubicBezTo>
                  <a:lnTo>
                    <a:pt x="0" y="68801"/>
                  </a:lnTo>
                  <a:cubicBezTo>
                    <a:pt x="0" y="50554"/>
                    <a:pt x="7249" y="33054"/>
                    <a:pt x="20151" y="20151"/>
                  </a:cubicBezTo>
                  <a:cubicBezTo>
                    <a:pt x="33054" y="7249"/>
                    <a:pt x="50554" y="0"/>
                    <a:pt x="688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659648" cy="1623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03689" y="1851792"/>
            <a:ext cx="9783203" cy="5849788"/>
            <a:chOff x="0" y="0"/>
            <a:chExt cx="2576646" cy="15406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6646" cy="1540685"/>
            </a:xfrm>
            <a:custGeom>
              <a:avLst/>
              <a:gdLst/>
              <a:ahLst/>
              <a:cxnLst/>
              <a:rect r="r" b="b" t="t" l="l"/>
              <a:pathLst>
                <a:path h="1540685" w="2576646">
                  <a:moveTo>
                    <a:pt x="44315" y="0"/>
                  </a:moveTo>
                  <a:lnTo>
                    <a:pt x="2532331" y="0"/>
                  </a:lnTo>
                  <a:cubicBezTo>
                    <a:pt x="2556806" y="0"/>
                    <a:pt x="2576646" y="19841"/>
                    <a:pt x="2576646" y="44315"/>
                  </a:cubicBezTo>
                  <a:lnTo>
                    <a:pt x="2576646" y="1496370"/>
                  </a:lnTo>
                  <a:cubicBezTo>
                    <a:pt x="2576646" y="1508123"/>
                    <a:pt x="2571977" y="1519395"/>
                    <a:pt x="2563667" y="1527705"/>
                  </a:cubicBezTo>
                  <a:cubicBezTo>
                    <a:pt x="2555356" y="1536016"/>
                    <a:pt x="2544084" y="1540685"/>
                    <a:pt x="2532331" y="1540685"/>
                  </a:cubicBezTo>
                  <a:lnTo>
                    <a:pt x="44315" y="1540685"/>
                  </a:lnTo>
                  <a:cubicBezTo>
                    <a:pt x="32562" y="1540685"/>
                    <a:pt x="21290" y="1536016"/>
                    <a:pt x="12980" y="1527705"/>
                  </a:cubicBezTo>
                  <a:cubicBezTo>
                    <a:pt x="4669" y="1519395"/>
                    <a:pt x="0" y="1508123"/>
                    <a:pt x="0" y="1496370"/>
                  </a:cubicBezTo>
                  <a:lnTo>
                    <a:pt x="0" y="44315"/>
                  </a:lnTo>
                  <a:cubicBezTo>
                    <a:pt x="0" y="32562"/>
                    <a:pt x="4669" y="21290"/>
                    <a:pt x="12980" y="12980"/>
                  </a:cubicBezTo>
                  <a:cubicBezTo>
                    <a:pt x="21290" y="4669"/>
                    <a:pt x="32562" y="0"/>
                    <a:pt x="443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576646" cy="1607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986" y="8234980"/>
            <a:ext cx="16682906" cy="1233630"/>
            <a:chOff x="0" y="0"/>
            <a:chExt cx="4393852" cy="3249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93852" cy="324907"/>
            </a:xfrm>
            <a:custGeom>
              <a:avLst/>
              <a:gdLst/>
              <a:ahLst/>
              <a:cxnLst/>
              <a:rect r="r" b="b" t="t" l="l"/>
              <a:pathLst>
                <a:path h="324907" w="4393852">
                  <a:moveTo>
                    <a:pt x="21811" y="0"/>
                  </a:moveTo>
                  <a:lnTo>
                    <a:pt x="4372041" y="0"/>
                  </a:lnTo>
                  <a:cubicBezTo>
                    <a:pt x="4384087" y="0"/>
                    <a:pt x="4393852" y="9765"/>
                    <a:pt x="4393852" y="21811"/>
                  </a:cubicBezTo>
                  <a:lnTo>
                    <a:pt x="4393852" y="303096"/>
                  </a:lnTo>
                  <a:cubicBezTo>
                    <a:pt x="4393852" y="315142"/>
                    <a:pt x="4384087" y="324907"/>
                    <a:pt x="4372041" y="324907"/>
                  </a:cubicBezTo>
                  <a:lnTo>
                    <a:pt x="21811" y="324907"/>
                  </a:lnTo>
                  <a:cubicBezTo>
                    <a:pt x="9765" y="324907"/>
                    <a:pt x="0" y="315142"/>
                    <a:pt x="0" y="303096"/>
                  </a:cubicBezTo>
                  <a:lnTo>
                    <a:pt x="0" y="21811"/>
                  </a:lnTo>
                  <a:cubicBezTo>
                    <a:pt x="0" y="9765"/>
                    <a:pt x="9765" y="0"/>
                    <a:pt x="21811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4393852" cy="391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460731" y="3487658"/>
            <a:ext cx="8269119" cy="348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Unlike </a:t>
            </a:r>
            <a:r>
              <a:rPr lang="en-US" sz="27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Discrete Graphics Cards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such as the Nvidia RTX3060 and others, iGPUs </a:t>
            </a:r>
            <a:r>
              <a:rPr lang="en-US" sz="2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don’t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have dedicated RAM.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shares RAM with the CPU itself, which removes the need for </a:t>
            </a:r>
            <a:r>
              <a:rPr lang="en-US" sz="2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copying data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between the two.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60731" y="2455454"/>
            <a:ext cx="8656428" cy="114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7"/>
              </a:lnSpc>
            </a:pPr>
            <a:r>
              <a:rPr lang="en-US" sz="7919" spc="-35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iGPU Memory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7852" y="3835571"/>
            <a:ext cx="3641953" cy="313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6"/>
              </a:lnSpc>
            </a:pPr>
            <a:r>
              <a:rPr lang="en-US" sz="5997" spc="-2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 whats different in iGPUs?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219805" y="2244635"/>
            <a:ext cx="1357313" cy="1357313"/>
          </a:xfrm>
          <a:custGeom>
            <a:avLst/>
            <a:gdLst/>
            <a:ahLst/>
            <a:cxnLst/>
            <a:rect r="r" b="b" t="t" l="l"/>
            <a:pathLst>
              <a:path h="1357313" w="1357313">
                <a:moveTo>
                  <a:pt x="0" y="0"/>
                </a:moveTo>
                <a:lnTo>
                  <a:pt x="1357313" y="0"/>
                </a:lnTo>
                <a:lnTo>
                  <a:pt x="1357313" y="1357314"/>
                </a:lnTo>
                <a:lnTo>
                  <a:pt x="0" y="1357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3913" y="8555033"/>
            <a:ext cx="16383051" cy="62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2"/>
              </a:lnSpc>
            </a:pPr>
            <a:r>
              <a:rPr lang="en-US" b="true" sz="4296" spc="-19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 iGPU just works marvels on handhelds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2093" y="778979"/>
            <a:ext cx="3537424" cy="595349"/>
            <a:chOff x="0" y="0"/>
            <a:chExt cx="4716566" cy="7937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596750" y="838545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 iGPU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20398" y="1894724"/>
            <a:ext cx="8875194" cy="7599868"/>
            <a:chOff x="0" y="0"/>
            <a:chExt cx="1375000" cy="11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5000" cy="1177418"/>
            </a:xfrm>
            <a:custGeom>
              <a:avLst/>
              <a:gdLst/>
              <a:ahLst/>
              <a:cxnLst/>
              <a:rect r="r" b="b" t="t" l="l"/>
              <a:pathLst>
                <a:path h="1177418" w="1375000">
                  <a:moveTo>
                    <a:pt x="48849" y="0"/>
                  </a:moveTo>
                  <a:lnTo>
                    <a:pt x="1326150" y="0"/>
                  </a:lnTo>
                  <a:cubicBezTo>
                    <a:pt x="1353129" y="0"/>
                    <a:pt x="1375000" y="21871"/>
                    <a:pt x="1375000" y="48849"/>
                  </a:cubicBezTo>
                  <a:lnTo>
                    <a:pt x="1375000" y="1128569"/>
                  </a:lnTo>
                  <a:cubicBezTo>
                    <a:pt x="1375000" y="1155548"/>
                    <a:pt x="1353129" y="1177418"/>
                    <a:pt x="1326150" y="1177418"/>
                  </a:cubicBezTo>
                  <a:lnTo>
                    <a:pt x="48849" y="1177418"/>
                  </a:lnTo>
                  <a:cubicBezTo>
                    <a:pt x="21871" y="1177418"/>
                    <a:pt x="0" y="1155548"/>
                    <a:pt x="0" y="1128569"/>
                  </a:cubicBezTo>
                  <a:lnTo>
                    <a:pt x="0" y="48849"/>
                  </a:lnTo>
                  <a:cubicBezTo>
                    <a:pt x="0" y="21871"/>
                    <a:pt x="21871" y="0"/>
                    <a:pt x="4884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95" r="0" b="-15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3986" y="1894724"/>
            <a:ext cx="7145508" cy="3799934"/>
            <a:chOff x="0" y="0"/>
            <a:chExt cx="1881944" cy="1000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1944" cy="1000806"/>
            </a:xfrm>
            <a:custGeom>
              <a:avLst/>
              <a:gdLst/>
              <a:ahLst/>
              <a:cxnLst/>
              <a:rect r="r" b="b" t="t" l="l"/>
              <a:pathLst>
                <a:path h="1000806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940132"/>
                  </a:lnTo>
                  <a:cubicBezTo>
                    <a:pt x="1881944" y="956223"/>
                    <a:pt x="1875552" y="971656"/>
                    <a:pt x="1864173" y="983035"/>
                  </a:cubicBezTo>
                  <a:cubicBezTo>
                    <a:pt x="1852795" y="994413"/>
                    <a:pt x="1837362" y="1000806"/>
                    <a:pt x="1821270" y="1000806"/>
                  </a:cubicBezTo>
                  <a:lnTo>
                    <a:pt x="60674" y="1000806"/>
                  </a:lnTo>
                  <a:cubicBezTo>
                    <a:pt x="27165" y="1000806"/>
                    <a:pt x="0" y="973641"/>
                    <a:pt x="0" y="940132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81944" cy="1067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03986" y="6312965"/>
            <a:ext cx="7145508" cy="3181626"/>
            <a:chOff x="0" y="0"/>
            <a:chExt cx="1881944" cy="8379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1944" cy="837959"/>
            </a:xfrm>
            <a:custGeom>
              <a:avLst/>
              <a:gdLst/>
              <a:ahLst/>
              <a:cxnLst/>
              <a:rect r="r" b="b" t="t" l="l"/>
              <a:pathLst>
                <a:path h="837959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777285"/>
                  </a:lnTo>
                  <a:cubicBezTo>
                    <a:pt x="1881944" y="810795"/>
                    <a:pt x="1854780" y="837959"/>
                    <a:pt x="1821270" y="837959"/>
                  </a:cubicBezTo>
                  <a:lnTo>
                    <a:pt x="60674" y="837959"/>
                  </a:lnTo>
                  <a:cubicBezTo>
                    <a:pt x="27165" y="837959"/>
                    <a:pt x="0" y="810795"/>
                    <a:pt x="0" y="777285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881944" cy="904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742942" y="2505205"/>
            <a:ext cx="1626436" cy="1626436"/>
          </a:xfrm>
          <a:custGeom>
            <a:avLst/>
            <a:gdLst/>
            <a:ahLst/>
            <a:cxnLst/>
            <a:rect r="r" b="b" t="t" l="l"/>
            <a:pathLst>
              <a:path h="1626436" w="1626436">
                <a:moveTo>
                  <a:pt x="0" y="0"/>
                </a:moveTo>
                <a:lnTo>
                  <a:pt x="1626436" y="0"/>
                </a:lnTo>
                <a:lnTo>
                  <a:pt x="1626436" y="1626436"/>
                </a:lnTo>
                <a:lnTo>
                  <a:pt x="0" y="162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6268" y="6794524"/>
            <a:ext cx="5883110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OpenGLES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is a graphics API used to work with iGPUs on Mobile devices.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Its an open standard maintained by the 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Khronos Group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6268" y="2552830"/>
            <a:ext cx="4045420" cy="178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512" spc="-29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Taming the Beast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6268" y="4470735"/>
            <a:ext cx="4045420" cy="66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4614" spc="-20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with OpenGLES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2093" y="778979"/>
            <a:ext cx="3537424" cy="595349"/>
            <a:chOff x="0" y="0"/>
            <a:chExt cx="4716566" cy="793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568050" y="838545"/>
            <a:ext cx="26912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 OpenGLES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1894724"/>
            <a:ext cx="7145508" cy="7727240"/>
            <a:chOff x="0" y="0"/>
            <a:chExt cx="1881944" cy="20351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1944" cy="2035158"/>
            </a:xfrm>
            <a:custGeom>
              <a:avLst/>
              <a:gdLst/>
              <a:ahLst/>
              <a:cxnLst/>
              <a:rect r="r" b="b" t="t" l="l"/>
              <a:pathLst>
                <a:path h="2035158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1974484"/>
                  </a:lnTo>
                  <a:cubicBezTo>
                    <a:pt x="1881944" y="1990575"/>
                    <a:pt x="1875552" y="2006008"/>
                    <a:pt x="1864173" y="2017387"/>
                  </a:cubicBezTo>
                  <a:cubicBezTo>
                    <a:pt x="1852795" y="2028765"/>
                    <a:pt x="1837362" y="2035158"/>
                    <a:pt x="1821270" y="2035158"/>
                  </a:cubicBezTo>
                  <a:lnTo>
                    <a:pt x="60674" y="2035158"/>
                  </a:lnTo>
                  <a:cubicBezTo>
                    <a:pt x="27165" y="2035158"/>
                    <a:pt x="0" y="2007993"/>
                    <a:pt x="0" y="1974484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881944" cy="210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661704" y="6356028"/>
            <a:ext cx="8825903" cy="3265935"/>
            <a:chOff x="0" y="0"/>
            <a:chExt cx="2324518" cy="8601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4518" cy="860164"/>
            </a:xfrm>
            <a:custGeom>
              <a:avLst/>
              <a:gdLst/>
              <a:ahLst/>
              <a:cxnLst/>
              <a:rect r="r" b="b" t="t" l="l"/>
              <a:pathLst>
                <a:path h="860164" w="2324518">
                  <a:moveTo>
                    <a:pt x="36842" y="0"/>
                  </a:moveTo>
                  <a:lnTo>
                    <a:pt x="2287676" y="0"/>
                  </a:lnTo>
                  <a:cubicBezTo>
                    <a:pt x="2308023" y="0"/>
                    <a:pt x="2324518" y="16495"/>
                    <a:pt x="2324518" y="36842"/>
                  </a:cubicBezTo>
                  <a:lnTo>
                    <a:pt x="2324518" y="823322"/>
                  </a:lnTo>
                  <a:cubicBezTo>
                    <a:pt x="2324518" y="843670"/>
                    <a:pt x="2308023" y="860164"/>
                    <a:pt x="2287676" y="860164"/>
                  </a:cubicBezTo>
                  <a:lnTo>
                    <a:pt x="36842" y="860164"/>
                  </a:lnTo>
                  <a:cubicBezTo>
                    <a:pt x="16495" y="860164"/>
                    <a:pt x="0" y="843670"/>
                    <a:pt x="0" y="823322"/>
                  </a:cubicBezTo>
                  <a:lnTo>
                    <a:pt x="0" y="36842"/>
                  </a:lnTo>
                  <a:cubicBezTo>
                    <a:pt x="0" y="16495"/>
                    <a:pt x="16495" y="0"/>
                    <a:pt x="368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324518" cy="92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61704" y="1894724"/>
            <a:ext cx="8825903" cy="3823129"/>
            <a:chOff x="0" y="0"/>
            <a:chExt cx="2324518" cy="10069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4518" cy="1006915"/>
            </a:xfrm>
            <a:custGeom>
              <a:avLst/>
              <a:gdLst/>
              <a:ahLst/>
              <a:cxnLst/>
              <a:rect r="r" b="b" t="t" l="l"/>
              <a:pathLst>
                <a:path h="1006915" w="2324518">
                  <a:moveTo>
                    <a:pt x="49122" y="0"/>
                  </a:moveTo>
                  <a:lnTo>
                    <a:pt x="2275395" y="0"/>
                  </a:lnTo>
                  <a:cubicBezTo>
                    <a:pt x="2288423" y="0"/>
                    <a:pt x="2300918" y="5175"/>
                    <a:pt x="2310130" y="14388"/>
                  </a:cubicBezTo>
                  <a:cubicBezTo>
                    <a:pt x="2319342" y="23600"/>
                    <a:pt x="2324518" y="36094"/>
                    <a:pt x="2324518" y="49122"/>
                  </a:cubicBezTo>
                  <a:lnTo>
                    <a:pt x="2324518" y="957793"/>
                  </a:lnTo>
                  <a:cubicBezTo>
                    <a:pt x="2324518" y="970821"/>
                    <a:pt x="2319342" y="983315"/>
                    <a:pt x="2310130" y="992527"/>
                  </a:cubicBezTo>
                  <a:cubicBezTo>
                    <a:pt x="2300918" y="1001739"/>
                    <a:pt x="2288423" y="1006915"/>
                    <a:pt x="2275395" y="1006915"/>
                  </a:cubicBezTo>
                  <a:lnTo>
                    <a:pt x="49122" y="1006915"/>
                  </a:lnTo>
                  <a:cubicBezTo>
                    <a:pt x="36094" y="1006915"/>
                    <a:pt x="23600" y="1001739"/>
                    <a:pt x="14388" y="992527"/>
                  </a:cubicBezTo>
                  <a:cubicBezTo>
                    <a:pt x="5175" y="983315"/>
                    <a:pt x="0" y="970821"/>
                    <a:pt x="0" y="957793"/>
                  </a:cubicBezTo>
                  <a:lnTo>
                    <a:pt x="0" y="49122"/>
                  </a:lnTo>
                  <a:cubicBezTo>
                    <a:pt x="0" y="36094"/>
                    <a:pt x="5175" y="23600"/>
                    <a:pt x="14388" y="14388"/>
                  </a:cubicBezTo>
                  <a:cubicBezTo>
                    <a:pt x="23600" y="5175"/>
                    <a:pt x="36094" y="0"/>
                    <a:pt x="49122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324518" cy="1073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79838" y="2395613"/>
            <a:ext cx="5820885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 OpenGLES is an open standard, it works on almost all devices, which also includes iPhones.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11514" y="2528963"/>
            <a:ext cx="7384352" cy="260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28"/>
              </a:lnSpc>
            </a:pPr>
            <a:r>
              <a:rPr lang="en-US" b="true" sz="9537" spc="-42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OpenGLES in a nutshell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2258" y="6955960"/>
            <a:ext cx="5738811" cy="16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80"/>
              </a:lnSpc>
            </a:pPr>
            <a:r>
              <a:rPr lang="en-US" sz="4700" spc="-2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is Heterogenous Computing!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809561" y="6819295"/>
            <a:ext cx="1169701" cy="1169701"/>
          </a:xfrm>
          <a:custGeom>
            <a:avLst/>
            <a:gdLst/>
            <a:ahLst/>
            <a:cxnLst/>
            <a:rect r="r" b="b" t="t" l="l"/>
            <a:pathLst>
              <a:path h="1169701" w="1169701">
                <a:moveTo>
                  <a:pt x="0" y="0"/>
                </a:moveTo>
                <a:lnTo>
                  <a:pt x="1169701" y="0"/>
                </a:lnTo>
                <a:lnTo>
                  <a:pt x="1169701" y="1169701"/>
                </a:lnTo>
                <a:lnTo>
                  <a:pt x="0" y="116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82093" y="778979"/>
            <a:ext cx="3537424" cy="595349"/>
            <a:chOff x="0" y="0"/>
            <a:chExt cx="4716566" cy="793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66297" y="4381178"/>
            <a:ext cx="5820885" cy="447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this API, the CPU “tells” the GPU “what is to be done”. The CPU writes the data to be “crunched”, into memory containers called </a:t>
            </a:r>
            <a:r>
              <a:rPr lang="en-US" sz="2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buffers.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Buffers are just plain ol’ arrays!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“programs” executed on a </a:t>
            </a:r>
            <a:r>
              <a:rPr lang="en-US" sz="27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GPU thread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are called </a:t>
            </a:r>
            <a:r>
              <a:rPr lang="en-US" sz="27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shaders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68050" y="847008"/>
            <a:ext cx="26912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 OpenGLES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00921" y="1986280"/>
            <a:ext cx="10876417" cy="7467954"/>
            <a:chOff x="0" y="0"/>
            <a:chExt cx="2864571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4571" cy="1966869"/>
            </a:xfrm>
            <a:custGeom>
              <a:avLst/>
              <a:gdLst/>
              <a:ahLst/>
              <a:cxnLst/>
              <a:rect r="r" b="b" t="t" l="l"/>
              <a:pathLst>
                <a:path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864571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986" y="1986280"/>
            <a:ext cx="5264882" cy="7467954"/>
            <a:chOff x="0" y="0"/>
            <a:chExt cx="1386636" cy="19668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6636" cy="1966869"/>
            </a:xfrm>
            <a:custGeom>
              <a:avLst/>
              <a:gdLst/>
              <a:ahLst/>
              <a:cxnLst/>
              <a:rect r="r" b="b" t="t" l="l"/>
              <a:pathLst>
                <a:path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86636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04417" y="5720257"/>
            <a:ext cx="2831507" cy="2831507"/>
          </a:xfrm>
          <a:custGeom>
            <a:avLst/>
            <a:gdLst/>
            <a:ahLst/>
            <a:cxnLst/>
            <a:rect r="r" b="b" t="t" l="l"/>
            <a:pathLst>
              <a:path h="2831507" w="2831507">
                <a:moveTo>
                  <a:pt x="0" y="0"/>
                </a:moveTo>
                <a:lnTo>
                  <a:pt x="2831507" y="0"/>
                </a:lnTo>
                <a:lnTo>
                  <a:pt x="2831507" y="2831507"/>
                </a:lnTo>
                <a:lnTo>
                  <a:pt x="0" y="2831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247047" y="838545"/>
            <a:ext cx="2012253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Terminology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3845" y="2420060"/>
            <a:ext cx="4122112" cy="190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6"/>
              </a:lnSpc>
            </a:pPr>
            <a:r>
              <a:rPr lang="en-US" sz="5504" spc="-2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Some Terms you need!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55160" y="2461910"/>
            <a:ext cx="9315752" cy="1211581"/>
            <a:chOff x="0" y="0"/>
            <a:chExt cx="12421003" cy="161544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47625"/>
              <a:ext cx="12421003" cy="1567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60"/>
                </a:lnSpc>
              </a:pPr>
              <a:r>
                <a:rPr lang="en-US" sz="8000" spc="-36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GPU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7712" y="269361"/>
              <a:ext cx="9804397" cy="118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6120"/>
                </a:lnSpc>
              </a:pPr>
              <a:r>
                <a:rPr lang="en-US" sz="6000" spc="-27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Terminology - 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2093" y="778979"/>
            <a:ext cx="3537424" cy="595349"/>
            <a:chOff x="0" y="0"/>
            <a:chExt cx="4716566" cy="793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655160" y="3940829"/>
            <a:ext cx="7353298" cy="461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3000" spc="-1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Threads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This is the smallest unit of execution that runs the </a:t>
            </a:r>
            <a:r>
              <a:rPr lang="en-US" sz="3000" i="true" spc="-13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shader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program.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3000" spc="-1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Warps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A warp is a collection of threads.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3000" spc="-1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Warp width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This is the number of threads per warp. Its usually 4 to 16 on mobile.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3000" spc="-1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Cores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Consists of multiple Warps and can execute them simultaneously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3000" spc="-1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 Group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A unit of “work” to be done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00921" y="1986280"/>
            <a:ext cx="10876417" cy="7467954"/>
            <a:chOff x="0" y="0"/>
            <a:chExt cx="2864571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4571" cy="1966869"/>
            </a:xfrm>
            <a:custGeom>
              <a:avLst/>
              <a:gdLst/>
              <a:ahLst/>
              <a:cxnLst/>
              <a:rect r="r" b="b" t="t" l="l"/>
              <a:pathLst>
                <a:path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864571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986" y="1986280"/>
            <a:ext cx="5264882" cy="7467954"/>
            <a:chOff x="0" y="0"/>
            <a:chExt cx="1386636" cy="19668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6636" cy="1966869"/>
            </a:xfrm>
            <a:custGeom>
              <a:avLst/>
              <a:gdLst/>
              <a:ahLst/>
              <a:cxnLst/>
              <a:rect r="r" b="b" t="t" l="l"/>
              <a:pathLst>
                <a:path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86636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04417" y="5720257"/>
            <a:ext cx="2831507" cy="2831507"/>
          </a:xfrm>
          <a:custGeom>
            <a:avLst/>
            <a:gdLst/>
            <a:ahLst/>
            <a:cxnLst/>
            <a:rect r="r" b="b" t="t" l="l"/>
            <a:pathLst>
              <a:path h="2831507" w="2831507">
                <a:moveTo>
                  <a:pt x="0" y="0"/>
                </a:moveTo>
                <a:lnTo>
                  <a:pt x="2831507" y="0"/>
                </a:lnTo>
                <a:lnTo>
                  <a:pt x="2831507" y="2831507"/>
                </a:lnTo>
                <a:lnTo>
                  <a:pt x="0" y="2831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845" y="2420060"/>
            <a:ext cx="4122112" cy="190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6"/>
              </a:lnSpc>
            </a:pPr>
            <a:r>
              <a:rPr lang="en-US" sz="5504" spc="-2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Some Terms you need!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55160" y="2461910"/>
            <a:ext cx="9315752" cy="1211581"/>
            <a:chOff x="0" y="0"/>
            <a:chExt cx="12421003" cy="161544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47625"/>
              <a:ext cx="12421003" cy="1567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60"/>
                </a:lnSpc>
              </a:pPr>
              <a:r>
                <a:rPr lang="en-US" sz="8000" spc="-36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GPU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05126" y="269361"/>
              <a:ext cx="9804397" cy="118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6120"/>
                </a:lnSpc>
              </a:pPr>
              <a:r>
                <a:rPr lang="en-US" sz="6000" spc="-27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Terminology - II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2093" y="778979"/>
            <a:ext cx="3537424" cy="595349"/>
            <a:chOff x="0" y="0"/>
            <a:chExt cx="4716566" cy="793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655160" y="3940829"/>
            <a:ext cx="7353298" cy="423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3000" spc="-1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Local Workgroup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Represents a logical collection of threads executing simultaneously per GPU Core. The threads within this group can share resources and synchronise.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3000" spc="-1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Local Workgroup size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Number of threads that belong to the </a:t>
            </a:r>
            <a:r>
              <a:rPr lang="en-US" sz="3000" i="true" spc="-13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LWG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3000" spc="-1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Global Workgroup</a:t>
            </a:r>
            <a:r>
              <a:rPr lang="en-US" sz="3000" spc="-1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Represents the total number of LWGs to be executed.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47047" y="838545"/>
            <a:ext cx="2012253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Terminology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12" y="3052490"/>
            <a:ext cx="12179177" cy="176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80"/>
              </a:lnSpc>
              <a:spcBef>
                <a:spcPct val="0"/>
              </a:spcBef>
            </a:pPr>
            <a:r>
              <a:rPr lang="en-US" b="true" sz="9700" spc="-43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Lets see some code!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0057" y="731026"/>
            <a:ext cx="3537424" cy="595349"/>
            <a:chOff x="0" y="0"/>
            <a:chExt cx="4716566" cy="7937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08945" y="5574692"/>
            <a:ext cx="4024643" cy="3919900"/>
            <a:chOff x="0" y="0"/>
            <a:chExt cx="1208880" cy="11774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8880" cy="1177418"/>
            </a:xfrm>
            <a:custGeom>
              <a:avLst/>
              <a:gdLst/>
              <a:ahLst/>
              <a:cxnLst/>
              <a:rect r="r" b="b" t="t" l="l"/>
              <a:pathLst>
                <a:path h="1177418" w="1208880">
                  <a:moveTo>
                    <a:pt x="107723" y="0"/>
                  </a:moveTo>
                  <a:lnTo>
                    <a:pt x="1101157" y="0"/>
                  </a:lnTo>
                  <a:cubicBezTo>
                    <a:pt x="1129727" y="0"/>
                    <a:pt x="1157127" y="11349"/>
                    <a:pt x="1177329" y="31551"/>
                  </a:cubicBezTo>
                  <a:cubicBezTo>
                    <a:pt x="1197531" y="51753"/>
                    <a:pt x="1208880" y="79153"/>
                    <a:pt x="1208880" y="107723"/>
                  </a:cubicBezTo>
                  <a:lnTo>
                    <a:pt x="1208880" y="1069695"/>
                  </a:lnTo>
                  <a:cubicBezTo>
                    <a:pt x="1208880" y="1098265"/>
                    <a:pt x="1197531" y="1125665"/>
                    <a:pt x="1177329" y="1145867"/>
                  </a:cubicBezTo>
                  <a:cubicBezTo>
                    <a:pt x="1157127" y="1166069"/>
                    <a:pt x="1129727" y="1177418"/>
                    <a:pt x="1101157" y="1177418"/>
                  </a:cubicBezTo>
                  <a:lnTo>
                    <a:pt x="107723" y="1177418"/>
                  </a:lnTo>
                  <a:cubicBezTo>
                    <a:pt x="79153" y="1177418"/>
                    <a:pt x="51753" y="1166069"/>
                    <a:pt x="31551" y="1145867"/>
                  </a:cubicBezTo>
                  <a:cubicBezTo>
                    <a:pt x="11349" y="1125665"/>
                    <a:pt x="0" y="1098265"/>
                    <a:pt x="0" y="1069695"/>
                  </a:cubicBezTo>
                  <a:lnTo>
                    <a:pt x="0" y="107723"/>
                  </a:lnTo>
                  <a:cubicBezTo>
                    <a:pt x="0" y="79153"/>
                    <a:pt x="11349" y="51753"/>
                    <a:pt x="31551" y="31551"/>
                  </a:cubicBezTo>
                  <a:cubicBezTo>
                    <a:pt x="51753" y="11349"/>
                    <a:pt x="79153" y="0"/>
                    <a:pt x="10772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49" r="0" b="-114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54412" y="5574692"/>
            <a:ext cx="3840292" cy="3919900"/>
            <a:chOff x="0" y="0"/>
            <a:chExt cx="1153507" cy="11774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3507" cy="1177418"/>
            </a:xfrm>
            <a:custGeom>
              <a:avLst/>
              <a:gdLst/>
              <a:ahLst/>
              <a:cxnLst/>
              <a:rect r="r" b="b" t="t" l="l"/>
              <a:pathLst>
                <a:path h="1177418" w="1153507">
                  <a:moveTo>
                    <a:pt x="112894" y="0"/>
                  </a:moveTo>
                  <a:lnTo>
                    <a:pt x="1040612" y="0"/>
                  </a:lnTo>
                  <a:cubicBezTo>
                    <a:pt x="1102962" y="0"/>
                    <a:pt x="1153507" y="50545"/>
                    <a:pt x="1153507" y="112894"/>
                  </a:cubicBezTo>
                  <a:lnTo>
                    <a:pt x="1153507" y="1064524"/>
                  </a:lnTo>
                  <a:cubicBezTo>
                    <a:pt x="1153507" y="1126874"/>
                    <a:pt x="1102962" y="1177418"/>
                    <a:pt x="1040612" y="1177418"/>
                  </a:cubicBezTo>
                  <a:lnTo>
                    <a:pt x="112894" y="1177418"/>
                  </a:lnTo>
                  <a:cubicBezTo>
                    <a:pt x="50545" y="1177418"/>
                    <a:pt x="0" y="1126874"/>
                    <a:pt x="0" y="1064524"/>
                  </a:cubicBezTo>
                  <a:lnTo>
                    <a:pt x="0" y="112894"/>
                  </a:lnTo>
                  <a:cubicBezTo>
                    <a:pt x="0" y="50545"/>
                    <a:pt x="50545" y="0"/>
                    <a:pt x="112894" y="0"/>
                  </a:cubicBezTo>
                  <a:close/>
                </a:path>
              </a:pathLst>
            </a:custGeom>
            <a:blipFill>
              <a:blip r:embed="rId4"/>
              <a:stretch>
                <a:fillRect l="-1036" t="0" r="-1036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-1115030" y="4653959"/>
            <a:ext cx="12179177" cy="92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spc="-22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 Repo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31679" y="4653959"/>
            <a:ext cx="12179177" cy="92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spc="-22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Executables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29369" y="1877565"/>
            <a:ext cx="6264589" cy="7599836"/>
            <a:chOff x="0" y="0"/>
            <a:chExt cx="1649933" cy="2001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9933" cy="2001603"/>
            </a:xfrm>
            <a:custGeom>
              <a:avLst/>
              <a:gdLst/>
              <a:ahLst/>
              <a:cxnLst/>
              <a:rect r="r" b="b" t="t" l="l"/>
              <a:pathLst>
                <a:path h="2001603" w="1649933">
                  <a:moveTo>
                    <a:pt x="51905" y="0"/>
                  </a:moveTo>
                  <a:lnTo>
                    <a:pt x="1598028" y="0"/>
                  </a:lnTo>
                  <a:cubicBezTo>
                    <a:pt x="1611794" y="0"/>
                    <a:pt x="1624996" y="5468"/>
                    <a:pt x="1634730" y="15202"/>
                  </a:cubicBezTo>
                  <a:cubicBezTo>
                    <a:pt x="1644464" y="24936"/>
                    <a:pt x="1649933" y="38139"/>
                    <a:pt x="1649933" y="51905"/>
                  </a:cubicBezTo>
                  <a:lnTo>
                    <a:pt x="1649933" y="1949698"/>
                  </a:lnTo>
                  <a:cubicBezTo>
                    <a:pt x="1649933" y="1963464"/>
                    <a:pt x="1644464" y="1976666"/>
                    <a:pt x="1634730" y="1986400"/>
                  </a:cubicBezTo>
                  <a:cubicBezTo>
                    <a:pt x="1624996" y="1996134"/>
                    <a:pt x="1611794" y="2001603"/>
                    <a:pt x="1598028" y="2001603"/>
                  </a:cubicBezTo>
                  <a:lnTo>
                    <a:pt x="51905" y="2001603"/>
                  </a:lnTo>
                  <a:cubicBezTo>
                    <a:pt x="23238" y="2001603"/>
                    <a:pt x="0" y="1978364"/>
                    <a:pt x="0" y="1949698"/>
                  </a:cubicBezTo>
                  <a:lnTo>
                    <a:pt x="0" y="51905"/>
                  </a:lnTo>
                  <a:cubicBezTo>
                    <a:pt x="0" y="38139"/>
                    <a:pt x="5468" y="24936"/>
                    <a:pt x="15202" y="15202"/>
                  </a:cubicBezTo>
                  <a:cubicBezTo>
                    <a:pt x="24936" y="5468"/>
                    <a:pt x="38139" y="0"/>
                    <a:pt x="519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649933" cy="2068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986" y="1756054"/>
            <a:ext cx="7896795" cy="4028548"/>
            <a:chOff x="0" y="0"/>
            <a:chExt cx="2079814" cy="10610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9814" cy="1061017"/>
            </a:xfrm>
            <a:custGeom>
              <a:avLst/>
              <a:gdLst/>
              <a:ahLst/>
              <a:cxnLst/>
              <a:rect r="r" b="b" t="t" l="l"/>
              <a:pathLst>
                <a:path h="1061017" w="2079814">
                  <a:moveTo>
                    <a:pt x="54902" y="0"/>
                  </a:moveTo>
                  <a:lnTo>
                    <a:pt x="2024913" y="0"/>
                  </a:lnTo>
                  <a:cubicBezTo>
                    <a:pt x="2039473" y="0"/>
                    <a:pt x="2053438" y="5784"/>
                    <a:pt x="2063734" y="16080"/>
                  </a:cubicBezTo>
                  <a:cubicBezTo>
                    <a:pt x="2074030" y="26376"/>
                    <a:pt x="2079814" y="40341"/>
                    <a:pt x="2079814" y="54902"/>
                  </a:cubicBezTo>
                  <a:lnTo>
                    <a:pt x="2079814" y="1006115"/>
                  </a:lnTo>
                  <a:cubicBezTo>
                    <a:pt x="2079814" y="1036436"/>
                    <a:pt x="2055234" y="1061017"/>
                    <a:pt x="2024913" y="1061017"/>
                  </a:cubicBezTo>
                  <a:lnTo>
                    <a:pt x="54902" y="1061017"/>
                  </a:lnTo>
                  <a:cubicBezTo>
                    <a:pt x="24580" y="1061017"/>
                    <a:pt x="0" y="1036436"/>
                    <a:pt x="0" y="1006115"/>
                  </a:cubicBezTo>
                  <a:lnTo>
                    <a:pt x="0" y="54902"/>
                  </a:lnTo>
                  <a:cubicBezTo>
                    <a:pt x="0" y="40341"/>
                    <a:pt x="5784" y="26376"/>
                    <a:pt x="16080" y="16080"/>
                  </a:cubicBezTo>
                  <a:cubicBezTo>
                    <a:pt x="26376" y="5784"/>
                    <a:pt x="40341" y="0"/>
                    <a:pt x="54902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079814" cy="1127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986" y="6327527"/>
            <a:ext cx="7896795" cy="3149874"/>
            <a:chOff x="0" y="0"/>
            <a:chExt cx="2079814" cy="829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9814" cy="829596"/>
            </a:xfrm>
            <a:custGeom>
              <a:avLst/>
              <a:gdLst/>
              <a:ahLst/>
              <a:cxnLst/>
              <a:rect r="r" b="b" t="t" l="l"/>
              <a:pathLst>
                <a:path h="829596" w="2079814">
                  <a:moveTo>
                    <a:pt x="54902" y="0"/>
                  </a:moveTo>
                  <a:lnTo>
                    <a:pt x="2024913" y="0"/>
                  </a:lnTo>
                  <a:cubicBezTo>
                    <a:pt x="2039473" y="0"/>
                    <a:pt x="2053438" y="5784"/>
                    <a:pt x="2063734" y="16080"/>
                  </a:cubicBezTo>
                  <a:cubicBezTo>
                    <a:pt x="2074030" y="26376"/>
                    <a:pt x="2079814" y="40341"/>
                    <a:pt x="2079814" y="54902"/>
                  </a:cubicBezTo>
                  <a:lnTo>
                    <a:pt x="2079814" y="774695"/>
                  </a:lnTo>
                  <a:cubicBezTo>
                    <a:pt x="2079814" y="805016"/>
                    <a:pt x="2055234" y="829596"/>
                    <a:pt x="2024913" y="829596"/>
                  </a:cubicBezTo>
                  <a:lnTo>
                    <a:pt x="54902" y="829596"/>
                  </a:lnTo>
                  <a:cubicBezTo>
                    <a:pt x="40341" y="829596"/>
                    <a:pt x="26376" y="823812"/>
                    <a:pt x="16080" y="813516"/>
                  </a:cubicBezTo>
                  <a:cubicBezTo>
                    <a:pt x="5784" y="803220"/>
                    <a:pt x="0" y="789256"/>
                    <a:pt x="0" y="774695"/>
                  </a:cubicBezTo>
                  <a:lnTo>
                    <a:pt x="0" y="54902"/>
                  </a:lnTo>
                  <a:cubicBezTo>
                    <a:pt x="0" y="40341"/>
                    <a:pt x="5784" y="26376"/>
                    <a:pt x="16080" y="16080"/>
                  </a:cubicBezTo>
                  <a:cubicBezTo>
                    <a:pt x="26376" y="5784"/>
                    <a:pt x="40341" y="0"/>
                    <a:pt x="549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79814" cy="896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17833" y="1877565"/>
            <a:ext cx="1562273" cy="7599836"/>
            <a:chOff x="0" y="0"/>
            <a:chExt cx="411463" cy="20016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1463" cy="2001603"/>
            </a:xfrm>
            <a:custGeom>
              <a:avLst/>
              <a:gdLst/>
              <a:ahLst/>
              <a:cxnLst/>
              <a:rect r="r" b="b" t="t" l="l"/>
              <a:pathLst>
                <a:path h="2001603" w="411463">
                  <a:moveTo>
                    <a:pt x="205731" y="0"/>
                  </a:moveTo>
                  <a:lnTo>
                    <a:pt x="205731" y="0"/>
                  </a:lnTo>
                  <a:cubicBezTo>
                    <a:pt x="319354" y="0"/>
                    <a:pt x="411463" y="92109"/>
                    <a:pt x="411463" y="205731"/>
                  </a:cubicBezTo>
                  <a:lnTo>
                    <a:pt x="411463" y="1795871"/>
                  </a:lnTo>
                  <a:cubicBezTo>
                    <a:pt x="411463" y="1909494"/>
                    <a:pt x="319354" y="2001603"/>
                    <a:pt x="205731" y="2001603"/>
                  </a:cubicBezTo>
                  <a:lnTo>
                    <a:pt x="205731" y="2001603"/>
                  </a:lnTo>
                  <a:cubicBezTo>
                    <a:pt x="92109" y="2001603"/>
                    <a:pt x="0" y="1909494"/>
                    <a:pt x="0" y="1795871"/>
                  </a:cubicBezTo>
                  <a:lnTo>
                    <a:pt x="0" y="205731"/>
                  </a:lnTo>
                  <a:cubicBezTo>
                    <a:pt x="0" y="92109"/>
                    <a:pt x="92109" y="0"/>
                    <a:pt x="205731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411463" cy="2068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45590" y="2497029"/>
            <a:ext cx="4632148" cy="619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the data driven world, where AI and ML are playing a big role, the need for such vector processors has hit us hard.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advantage of Heterogenous Computing is not superficial anymore. It has real benefits. It seeks to  reduce power draw and maximize performance.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2740" y="6923583"/>
            <a:ext cx="6119287" cy="156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699" spc="-25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Future of GPU Programming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8532" y="2430354"/>
            <a:ext cx="6367702" cy="253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17"/>
              </a:lnSpc>
            </a:pPr>
            <a:r>
              <a:rPr lang="en-US" sz="7297" spc="-32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AI, Automation, and Beyond</a:t>
            </a:r>
          </a:p>
        </p:txBody>
      </p:sp>
      <p:sp>
        <p:nvSpPr>
          <p:cNvPr name="TextBox 17" id="17"/>
          <p:cNvSpPr txBox="true"/>
          <p:nvPr/>
        </p:nvSpPr>
        <p:spPr>
          <a:xfrm rot="-5400000">
            <a:off x="13190956" y="5338612"/>
            <a:ext cx="7244600" cy="67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0"/>
              </a:lnSpc>
            </a:pPr>
            <a:r>
              <a:rPr lang="en-US" b="true" sz="4647" spc="-2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Programming the Future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2093" y="778979"/>
            <a:ext cx="3537424" cy="595349"/>
            <a:chOff x="0" y="0"/>
            <a:chExt cx="4716566" cy="7937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888857" y="838545"/>
            <a:ext cx="26912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Future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12" y="3687473"/>
            <a:ext cx="12179177" cy="25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  <a:spcBef>
                <a:spcPct val="0"/>
              </a:spcBef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0057" y="731026"/>
            <a:ext cx="3537424" cy="595349"/>
            <a:chOff x="0" y="0"/>
            <a:chExt cx="4716566" cy="7937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286" cy="793799"/>
            </a:xfrm>
            <a:custGeom>
              <a:avLst/>
              <a:gdLst/>
              <a:ahLst/>
              <a:cxnLst/>
              <a:rect r="r" b="b" t="t" l="l"/>
              <a:pathLst>
                <a:path h="793799" w="924286">
                  <a:moveTo>
                    <a:pt x="0" y="0"/>
                  </a:moveTo>
                  <a:lnTo>
                    <a:pt x="924286" y="0"/>
                  </a:lnTo>
                  <a:lnTo>
                    <a:pt x="924286" y="793799"/>
                  </a:lnTo>
                  <a:lnTo>
                    <a:pt x="0" y="79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135901" y="99227"/>
              <a:ext cx="3580664" cy="567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  <a:spcBef>
                  <a:spcPct val="0"/>
                </a:spcBef>
              </a:pPr>
              <a:r>
                <a:rPr lang="en-US" b="true" sz="2422" spc="-10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WEC Systems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DAHAKdL-m6E</dc:identifier>
  <dcterms:modified xsi:type="dcterms:W3CDTF">2011-08-01T06:04:30Z</dcterms:modified>
  <cp:revision>1</cp:revision>
  <dc:title>GPU Compute on Android</dc:title>
</cp:coreProperties>
</file>